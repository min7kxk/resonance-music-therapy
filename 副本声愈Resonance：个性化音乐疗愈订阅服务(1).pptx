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28.svg" ContentType="image/svg+xml"/>
  <Override PartName="/ppt/media/image31.svg" ContentType="image/svg+xml"/>
  <Override PartName="/ppt/media/image33.svg" ContentType="image/svg+xml"/>
  <Override PartName="/ppt/media/image38.svg" ContentType="image/svg+xml"/>
  <Override PartName="/ppt/media/image4.svg" ContentType="image/svg+xml"/>
  <Override PartName="/ppt/media/image40.svg" ContentType="image/svg+xml"/>
  <Override PartName="/ppt/media/image42.svg" ContentType="image/svg+xml"/>
  <Override PartName="/ppt/media/image44.svg" ContentType="image/svg+xml"/>
  <Override PartName="/ppt/media/image46.svg" ContentType="image/svg+xml"/>
  <Override PartName="/ppt/media/image48.svg" ContentType="image/svg+xml"/>
  <Override PartName="/ppt/media/image51.svg" ContentType="image/svg+xml"/>
  <Override PartName="/ppt/media/image55.svg" ContentType="image/svg+xml"/>
  <Override PartName="/ppt/media/image57.svg" ContentType="image/svg+xml"/>
  <Override PartName="/ppt/media/image59.svg" ContentType="image/svg+xml"/>
  <Override PartName="/ppt/media/image6.svg" ContentType="image/svg+xml"/>
  <Override PartName="/ppt/media/image61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defaultTextStyle>
  <p:extLst>
    <p:ext uri="{EFAFB233-063F-42B5-8137-9DF3F51BA10A}">
      <p15:sldGuideLst xmlns:p15="http://schemas.microsoft.com/office/powerpoint/2012/main">
        <p15:guide id="1" orient="horz" pos="1656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56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欢迎来到声愈Resonance的项目展示。今天，我们将为大家介绍一个致力于通过科技力量，为3亿中国人提供个性化音乐疗愈的创新平台。我们相信，每一个疲惫的灵魂，都值得被温柔以待。声愈Resonance，旨在成为国内领先的数据驱动型个性化音乐疗愈平台，用声波治愈身心，用科技传递关怀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正面临一个严峻的现实：超过3亿中国人存在睡眠障碍，焦虑情绪普遍蔓延，专注力成为一种稀缺资源。然而，现有的解决方案却远远不够。通用的音乐App千人一面，效果甚微；而专业的心理咨询又价格高昂、门槛重重。这个巨大的市场空白，正是声愈Resonance所要填补的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解决方案是一套革命性的智能闭环体系。它从多模态数据采集开始，通过AI进行精准评估，再由专业治疗师定制个性化音乐处方，并根据用户反馈持续动态迭代。这彻底打破了传统静态歌单的模式，实现了真正的“千人千面、时时适配”，让疗愈过程像一个智能的私人健康管家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设计了灵活的三级订阅产品体系，以满足不同用户的需求。从满足基础需求的月度订阅，到提供深度服务的年度尊享版，我们确保每个人都能找到适合自己的方案。同时，我们积极拓展B端市场，为企业、学校和康养机构提供定制化解决方案，实现C端与B端的协同发展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核心竞争力在于构建了三重壁垒。首先，我们拥有数据驱动的动态迭代能力，这是传统音乐平台和心理平台所不具备的。其次，我们有专业的音乐治疗师团队提供背书，确保了内容的科学性。最后，我们的订阅制模式提供了极高的性价比和便捷性。这三者结合，形成了我们坚实的护城河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所处的赛道，是一个千亿级的蓝海市场。数字心理健康市场正以接近30%的年复合增长率飞速发展。我们精准定位三类核心用户：高压职场人、学生群体和亚健康人群。同时，我们规划了清晰的B端拓展路径，从企业EAP到校园心理，再到康养配套，市场空间广阔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商业模式是“C端订阅+B端定制”双轮驱动。C端订阅是我们的基础收入，而B端服务将成为未来增长的核心引擎。得益于轻量化的订阅制模式，我们的边际成本随着用户规模的扩大而趋近于零，这为我们实现规模化盈利奠定了坚实的基础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为声愈Resonance规划了清晰的三年增长路径。第一年，我们将专注于产品打磨和口碑建立，实现收支平衡。第二年，我们将进入快速成长期，拓展B端业务，实现稳定盈利。到第三年，我们的目标是达到十万级用户规模，成为数字心理健康领域的头部平台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一个伟大的项目离不开一个优秀的团队。我们的核心团队是一支“技术+专业+运营”的复合型战队。我们有来自音乐治疗、AI算法、互联网产品和临床心理学领域的专家，这种跨学科的背景确保了我们能够将前沿科技与专业知识深度融合，打造出真正有价值的产品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财务模型显示，这是一个典型的轻量化投入、规模化盈利的项目。在第一年的投入期后，我们预计在第二年实现扭亏为盈，并在第三年随着用户规模的扩大，实现利润的指数级增长。我们将坚持轻量化运营，严控成本，确保每一步增长都稳健而高效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我们想强调声愈Resonance的社会价值。我们不仅仅是在做一门生意，更是在践行“科技向善”的理念。通过提供普惠的音乐疗愈服务，我们希望能降低药物依赖，缓解社会医疗成本，推动整个心理健康产业的发展。我们相信，科技的力量，最终应该用于传递人文关怀，疗愈每一个需要帮助的灵魂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声愈Resonance，以数据赋能疗愈，以声波治愈身心。我们已经准备好，开启数字心理健康的新篇章。期待与各位评委、投资人一起，共创这个充满希望的未来。谢谢大家！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9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9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9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9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9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8.svg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6.svg"/><Relationship Id="rId8" Type="http://schemas.openxmlformats.org/officeDocument/2006/relationships/image" Target="../media/image15.png"/><Relationship Id="rId7" Type="http://schemas.openxmlformats.org/officeDocument/2006/relationships/image" Target="../media/image14.svg"/><Relationship Id="rId6" Type="http://schemas.openxmlformats.org/officeDocument/2006/relationships/image" Target="../media/image13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1" Type="http://schemas.openxmlformats.org/officeDocument/2006/relationships/notesSlide" Target="../notesSlides/notesSlide3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24.svg"/><Relationship Id="rId8" Type="http://schemas.openxmlformats.org/officeDocument/2006/relationships/image" Target="../media/image23.png"/><Relationship Id="rId7" Type="http://schemas.openxmlformats.org/officeDocument/2006/relationships/image" Target="../media/image22.svg"/><Relationship Id="rId6" Type="http://schemas.openxmlformats.org/officeDocument/2006/relationships/image" Target="../media/image21.png"/><Relationship Id="rId5" Type="http://schemas.openxmlformats.org/officeDocument/2006/relationships/image" Target="../media/image20.svg"/><Relationship Id="rId4" Type="http://schemas.openxmlformats.org/officeDocument/2006/relationships/image" Target="../media/image19.png"/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1" Type="http://schemas.openxmlformats.org/officeDocument/2006/relationships/notesSlide" Target="../notesSlides/notesSlide4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31.svg"/><Relationship Id="rId8" Type="http://schemas.openxmlformats.org/officeDocument/2006/relationships/image" Target="../media/image30.png"/><Relationship Id="rId7" Type="http://schemas.openxmlformats.org/officeDocument/2006/relationships/image" Target="../media/image14.svg"/><Relationship Id="rId6" Type="http://schemas.openxmlformats.org/officeDocument/2006/relationships/image" Target="../media/image29.png"/><Relationship Id="rId5" Type="http://schemas.openxmlformats.org/officeDocument/2006/relationships/image" Target="../media/image28.svg"/><Relationship Id="rId4" Type="http://schemas.openxmlformats.org/officeDocument/2006/relationships/image" Target="../media/image27.png"/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3" Type="http://schemas.openxmlformats.org/officeDocument/2006/relationships/notesSlide" Target="../notesSlides/notesSlide5.xml"/><Relationship Id="rId12" Type="http://schemas.openxmlformats.org/officeDocument/2006/relationships/slideLayout" Target="../slideLayouts/slideLayout12.xml"/><Relationship Id="rId11" Type="http://schemas.openxmlformats.org/officeDocument/2006/relationships/image" Target="../media/image33.svg"/><Relationship Id="rId10" Type="http://schemas.openxmlformats.org/officeDocument/2006/relationships/image" Target="../media/image32.png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34.jpeg"/><Relationship Id="rId1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7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38.svg"/><Relationship Id="rId4" Type="http://schemas.openxmlformats.org/officeDocument/2006/relationships/image" Target="../media/image37.png"/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8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44.svg"/><Relationship Id="rId6" Type="http://schemas.openxmlformats.org/officeDocument/2006/relationships/image" Target="../media/image43.png"/><Relationship Id="rId5" Type="http://schemas.openxmlformats.org/officeDocument/2006/relationships/image" Target="../media/image42.svg"/><Relationship Id="rId4" Type="http://schemas.openxmlformats.org/officeDocument/2006/relationships/image" Target="../media/image41.png"/><Relationship Id="rId3" Type="http://schemas.openxmlformats.org/officeDocument/2006/relationships/image" Target="../media/image40.svg"/><Relationship Id="rId2" Type="http://schemas.openxmlformats.org/officeDocument/2006/relationships/image" Target="../media/image39.png"/><Relationship Id="rId1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6.xml"/><Relationship Id="rId8" Type="http://schemas.openxmlformats.org/officeDocument/2006/relationships/tags" Target="../tags/tag5.xml"/><Relationship Id="rId7" Type="http://schemas.openxmlformats.org/officeDocument/2006/relationships/tags" Target="../tags/tag4.xml"/><Relationship Id="rId6" Type="http://schemas.openxmlformats.org/officeDocument/2006/relationships/tags" Target="../tags/tag3.xml"/><Relationship Id="rId5" Type="http://schemas.openxmlformats.org/officeDocument/2006/relationships/image" Target="../media/image46.svg"/><Relationship Id="rId4" Type="http://schemas.openxmlformats.org/officeDocument/2006/relationships/image" Target="../media/image45.png"/><Relationship Id="rId31" Type="http://schemas.openxmlformats.org/officeDocument/2006/relationships/notesSlide" Target="../notesSlides/notesSlide9.xml"/><Relationship Id="rId30" Type="http://schemas.openxmlformats.org/officeDocument/2006/relationships/slideLayout" Target="../slideLayouts/slideLayout12.xml"/><Relationship Id="rId3" Type="http://schemas.openxmlformats.org/officeDocument/2006/relationships/tags" Target="../tags/tag2.xml"/><Relationship Id="rId29" Type="http://schemas.openxmlformats.org/officeDocument/2006/relationships/tags" Target="../tags/tag20.xml"/><Relationship Id="rId28" Type="http://schemas.openxmlformats.org/officeDocument/2006/relationships/tags" Target="../tags/tag19.xml"/><Relationship Id="rId27" Type="http://schemas.openxmlformats.org/officeDocument/2006/relationships/tags" Target="../tags/tag18.xml"/><Relationship Id="rId26" Type="http://schemas.openxmlformats.org/officeDocument/2006/relationships/image" Target="../media/image51.svg"/><Relationship Id="rId25" Type="http://schemas.openxmlformats.org/officeDocument/2006/relationships/image" Target="../media/image50.png"/><Relationship Id="rId24" Type="http://schemas.openxmlformats.org/officeDocument/2006/relationships/tags" Target="../tags/tag17.xml"/><Relationship Id="rId23" Type="http://schemas.openxmlformats.org/officeDocument/2006/relationships/tags" Target="../tags/tag16.xml"/><Relationship Id="rId22" Type="http://schemas.openxmlformats.org/officeDocument/2006/relationships/tags" Target="../tags/tag15.xml"/><Relationship Id="rId21" Type="http://schemas.openxmlformats.org/officeDocument/2006/relationships/tags" Target="../tags/tag14.xml"/><Relationship Id="rId20" Type="http://schemas.openxmlformats.org/officeDocument/2006/relationships/tags" Target="../tags/tag13.xml"/><Relationship Id="rId2" Type="http://schemas.openxmlformats.org/officeDocument/2006/relationships/tags" Target="../tags/tag1.xml"/><Relationship Id="rId19" Type="http://schemas.openxmlformats.org/officeDocument/2006/relationships/image" Target="../media/image38.svg"/><Relationship Id="rId18" Type="http://schemas.openxmlformats.org/officeDocument/2006/relationships/image" Target="../media/image49.png"/><Relationship Id="rId17" Type="http://schemas.openxmlformats.org/officeDocument/2006/relationships/tags" Target="../tags/tag12.xml"/><Relationship Id="rId16" Type="http://schemas.openxmlformats.org/officeDocument/2006/relationships/tags" Target="../tags/tag11.xml"/><Relationship Id="rId15" Type="http://schemas.openxmlformats.org/officeDocument/2006/relationships/tags" Target="../tags/tag10.xml"/><Relationship Id="rId14" Type="http://schemas.openxmlformats.org/officeDocument/2006/relationships/tags" Target="../tags/tag9.xml"/><Relationship Id="rId13" Type="http://schemas.openxmlformats.org/officeDocument/2006/relationships/tags" Target="../tags/tag8.xml"/><Relationship Id="rId12" Type="http://schemas.openxmlformats.org/officeDocument/2006/relationships/image" Target="../media/image48.svg"/><Relationship Id="rId11" Type="http://schemas.openxmlformats.org/officeDocument/2006/relationships/image" Target="../media/image47.png"/><Relationship Id="rId10" Type="http://schemas.openxmlformats.org/officeDocument/2006/relationships/tags" Target="../tags/tag7.xml"/><Relationship Id="rId1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52.png"/><Relationship Id="rId1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60.png"/><Relationship Id="rId8" Type="http://schemas.openxmlformats.org/officeDocument/2006/relationships/image" Target="../media/image59.svg"/><Relationship Id="rId7" Type="http://schemas.openxmlformats.org/officeDocument/2006/relationships/image" Target="../media/image58.png"/><Relationship Id="rId6" Type="http://schemas.openxmlformats.org/officeDocument/2006/relationships/image" Target="../media/image57.svg"/><Relationship Id="rId5" Type="http://schemas.openxmlformats.org/officeDocument/2006/relationships/image" Target="../media/image56.png"/><Relationship Id="rId4" Type="http://schemas.openxmlformats.org/officeDocument/2006/relationships/image" Target="../media/image55.svg"/><Relationship Id="rId3" Type="http://schemas.openxmlformats.org/officeDocument/2006/relationships/image" Target="../media/image54.png"/><Relationship Id="rId2" Type="http://schemas.openxmlformats.org/officeDocument/2006/relationships/image" Target="../media/image53.jpeg"/><Relationship Id="rId12" Type="http://schemas.openxmlformats.org/officeDocument/2006/relationships/notesSlide" Target="../notesSlides/notesSlide11.xml"/><Relationship Id="rId11" Type="http://schemas.openxmlformats.org/officeDocument/2006/relationships/slideLayout" Target="../slideLayouts/slideLayout12.xml"/><Relationship Id="rId10" Type="http://schemas.openxmlformats.org/officeDocument/2006/relationships/image" Target="../media/image61.svg"/><Relationship Id="rId1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6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15367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2E405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声愈 Resonance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2679700"/>
            <a:ext cx="1219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546E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Personalized Music Healing Subscription Service</a:t>
            </a:r>
            <a:endParaRPr lang="en-US" sz="2000" b="0" i="0" u="none" strike="noStrike">
              <a:solidFill>
                <a:srgbClr val="546E7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0" y="35687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455A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国内领先的数据驱动型个性化音乐疗愈平台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4297">
            <a:off x="1016004" y="5835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546E7A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1016000" y="60325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46E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武汉音乐学院</a:t>
            </a:r>
            <a:endParaRPr lang="en-US" sz="1100"/>
          </a:p>
        </p:txBody>
      </p:sp>
      <p:sp>
        <p:nvSpPr>
          <p:cNvPr id="9" name="AutoShape 7"/>
          <p:cNvSpPr/>
          <p:nvPr/>
        </p:nvSpPr>
        <p:spPr>
          <a:xfrm>
            <a:off x="1016000" y="4686300"/>
            <a:ext cx="10160000" cy="965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algn="ctr">
              <a:lnSpc>
                <a:spcPct val="125000"/>
              </a:lnSpc>
              <a:buSzTx/>
              <a:defRPr/>
            </a:pPr>
            <a:r>
              <a:rPr lang="zh-CN" altLang="en-US" sz="1400">
                <a:solidFill>
                  <a:srgbClr val="546E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汇报人</a:t>
            </a:r>
            <a:r>
              <a:rPr lang="en-US" altLang="zh-CN" sz="1400">
                <a:solidFill>
                  <a:srgbClr val="546E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：   </a:t>
            </a:r>
            <a:r>
              <a:rPr lang="en-US">
                <a:solidFill>
                  <a:srgbClr val="546E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+mn-ea"/>
              </a:rPr>
              <a:t>赵彬睿 </a:t>
            </a:r>
            <a:r>
              <a:rPr lang="en-US">
                <a:solidFill>
                  <a:srgbClr val="546E7A"/>
                </a:solidFill>
                <a:latin typeface="黑体" charset="0"/>
                <a:ea typeface="黑体" charset="0"/>
                <a:cs typeface="Noto Sans SC" panose="020B0200000000000000" charset="-122"/>
                <a:sym typeface="+mn-ea"/>
              </a:rPr>
              <a:t>2024040033</a:t>
            </a:r>
            <a:endParaRPr lang="en-US" altLang="zh-CN" sz="1400">
              <a:solidFill>
                <a:srgbClr val="546E7A"/>
              </a:solidFill>
              <a:latin typeface="黑体" charset="0"/>
              <a:ea typeface="黑体" charset="0"/>
              <a:cs typeface="Noto Sans SC" panose="020B0200000000000000" charset="-122"/>
            </a:endParaRPr>
          </a:p>
          <a:p>
            <a:pPr marL="0" algn="ctr">
              <a:lnSpc>
                <a:spcPct val="125000"/>
              </a:lnSpc>
              <a:buSzTx/>
              <a:defRPr/>
            </a:pPr>
            <a:endParaRPr lang="zh-CN" altLang="en-US" sz="1400">
              <a:solidFill>
                <a:srgbClr val="546E7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0" algn="ctr">
              <a:lnSpc>
                <a:spcPct val="125000"/>
              </a:lnSpc>
              <a:buSzTx/>
              <a:defRPr/>
            </a:pPr>
            <a:r>
              <a:rPr lang="zh-CN" altLang="en-US" sz="1400">
                <a:solidFill>
                  <a:srgbClr val="546E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小组成员</a:t>
            </a:r>
            <a:r>
              <a:rPr lang="en-US" altLang="zh-CN" sz="1400">
                <a:solidFill>
                  <a:srgbClr val="546E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：</a:t>
            </a:r>
            <a:r>
              <a:rPr lang="en-US" sz="1400">
                <a:solidFill>
                  <a:srgbClr val="546E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魏雨婷 </a:t>
            </a:r>
            <a:r>
              <a:rPr lang="en-US" sz="1400">
                <a:solidFill>
                  <a:srgbClr val="546E7A"/>
                </a:solidFill>
                <a:latin typeface="黑体" charset="0"/>
                <a:ea typeface="黑体" charset="0"/>
                <a:cs typeface="Noto Sans SC" panose="020B0200000000000000" charset="-122"/>
              </a:rPr>
              <a:t>2024040030</a:t>
            </a:r>
            <a:r>
              <a:rPr lang="en-US" sz="1400">
                <a:solidFill>
                  <a:srgbClr val="546E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	朴相希 </a:t>
            </a:r>
            <a:r>
              <a:rPr lang="en-US" sz="1400">
                <a:solidFill>
                  <a:srgbClr val="546E7A"/>
                </a:solidFill>
                <a:latin typeface="黑体" charset="0"/>
                <a:ea typeface="黑体" charset="0"/>
                <a:cs typeface="Noto Sans SC" panose="020B0200000000000000" charset="-122"/>
              </a:rPr>
              <a:t>2024040034</a:t>
            </a:r>
            <a:r>
              <a:rPr lang="en-US" sz="1400">
                <a:solidFill>
                  <a:srgbClr val="546E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	</a:t>
            </a:r>
            <a:r>
              <a:rPr lang="en-US">
                <a:solidFill>
                  <a:srgbClr val="546E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+mn-ea"/>
              </a:rPr>
              <a:t>李俊仪 </a:t>
            </a:r>
            <a:r>
              <a:rPr lang="en-US">
                <a:solidFill>
                  <a:srgbClr val="546E7A"/>
                </a:solidFill>
                <a:latin typeface="黑体" charset="0"/>
                <a:ea typeface="黑体" charset="0"/>
                <a:cs typeface="Noto Sans SC" panose="020B0200000000000000" charset="-122"/>
                <a:sym typeface="+mn-ea"/>
              </a:rPr>
              <a:t>2024040035  </a:t>
            </a:r>
            <a:r>
              <a:rPr lang="en-US">
                <a:solidFill>
                  <a:srgbClr val="546E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+mn-ea"/>
              </a:rPr>
              <a:t>李今昔</a:t>
            </a:r>
            <a:r>
              <a:rPr lang="en-US">
                <a:solidFill>
                  <a:srgbClr val="546E7A"/>
                </a:solidFill>
                <a:latin typeface="黑体" charset="0"/>
                <a:ea typeface="黑体" charset="0"/>
                <a:cs typeface="Noto Sans SC" panose="020B0200000000000000" charset="-122"/>
                <a:sym typeface="+mn-ea"/>
              </a:rPr>
              <a:t>2024040042  </a:t>
            </a:r>
            <a:r>
              <a:rPr lang="en-US">
                <a:solidFill>
                  <a:srgbClr val="546E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+mn-ea"/>
              </a:rPr>
              <a:t>单钰淇 </a:t>
            </a:r>
            <a:r>
              <a:rPr lang="en-US">
                <a:solidFill>
                  <a:srgbClr val="546E7A"/>
                </a:solidFill>
                <a:latin typeface="黑体" charset="0"/>
                <a:ea typeface="黑体" charset="0"/>
                <a:cs typeface="Noto Sans SC" panose="020B0200000000000000" charset="-122"/>
                <a:sym typeface="+mn-ea"/>
              </a:rPr>
              <a:t>2024040046</a:t>
            </a:r>
            <a:endParaRPr lang="en-US">
              <a:solidFill>
                <a:srgbClr val="546E7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+mn-ea"/>
            </a:endParaRPr>
          </a:p>
          <a:p>
            <a:pPr marL="0" algn="ctr">
              <a:lnSpc>
                <a:spcPct val="125000"/>
              </a:lnSpc>
              <a:buSzTx/>
              <a:defRPr/>
            </a:pPr>
            <a:endParaRPr lang="en-US" sz="1400">
              <a:solidFill>
                <a:srgbClr val="546E7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2" name="AutoShape 7"/>
          <p:cNvSpPr/>
          <p:nvPr/>
        </p:nvSpPr>
        <p:spPr>
          <a:xfrm>
            <a:off x="6096000" y="60325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zh-CN" altLang="en-US" sz="1400" b="0" i="0" u="none" strike="noStrike">
                <a:solidFill>
                  <a:srgbClr val="546E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汇报时间</a:t>
            </a:r>
            <a:r>
              <a:rPr lang="en-US" altLang="zh-CN" sz="1400" b="0" i="0" u="none" strike="noStrike">
                <a:solidFill>
                  <a:srgbClr val="546E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</a:t>
            </a:r>
            <a:r>
              <a:rPr lang="en-US" altLang="zh-CN" sz="1400" b="0" i="0" u="none" strike="noStrike">
                <a:solidFill>
                  <a:srgbClr val="546E7A"/>
                </a:solidFill>
                <a:latin typeface="黑体" charset="0"/>
                <a:ea typeface="黑体" charset="0"/>
                <a:cs typeface="Noto Sans SC" panose="020B0200000000000000" charset="-122"/>
                <a:sym typeface="Noto Sans SC" panose="020B0200000000000000" charset="-122"/>
              </a:rPr>
              <a:t>2026</a:t>
            </a:r>
            <a:r>
              <a:rPr lang="zh-CN" altLang="en-US" sz="1400" b="0" i="0" u="none" strike="noStrike">
                <a:solidFill>
                  <a:srgbClr val="546E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年</a:t>
            </a:r>
            <a:r>
              <a:rPr lang="en-US" altLang="zh-CN" sz="1400" b="0" i="0" u="none" strike="noStrike">
                <a:solidFill>
                  <a:srgbClr val="546E7A"/>
                </a:solidFill>
                <a:latin typeface="黑体" charset="0"/>
                <a:ea typeface="黑体" charset="0"/>
                <a:cs typeface="Noto Sans SC" panose="020B0200000000000000" charset="-122"/>
                <a:sym typeface="Noto Sans SC" panose="020B0200000000000000" charset="-122"/>
              </a:rPr>
              <a:t>6</a:t>
            </a:r>
            <a:r>
              <a:rPr lang="zh-CN" altLang="en-US" sz="1400" b="0" i="0" u="none" strike="noStrike">
                <a:solidFill>
                  <a:srgbClr val="546E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月</a:t>
            </a:r>
            <a:r>
              <a:rPr lang="en-US" altLang="zh-CN" sz="1400" b="0" i="0" u="none" strike="noStrike">
                <a:solidFill>
                  <a:srgbClr val="546E7A"/>
                </a:solidFill>
                <a:latin typeface="黑体" charset="0"/>
                <a:ea typeface="黑体" charset="0"/>
                <a:cs typeface="Noto Sans SC" panose="020B0200000000000000" charset="-122"/>
                <a:sym typeface="Noto Sans SC" panose="020B0200000000000000" charset="-122"/>
              </a:rPr>
              <a:t>24</a:t>
            </a:r>
            <a:r>
              <a:rPr lang="zh-CN" altLang="en-US" sz="1400" b="0" i="0" u="none" strike="noStrike">
                <a:solidFill>
                  <a:srgbClr val="546E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日</a:t>
            </a:r>
            <a:endParaRPr lang="zh-CN" altLang="en-US" sz="1400" b="0" i="0" u="none" strike="noStrike">
              <a:solidFill>
                <a:srgbClr val="546E7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1A237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3亿中国人的“深夜困境”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505A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国民心理健康需求全面爆发，但现有服务与解决方案存在明显断层，难以匹配个体真实诉求。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092">
            <a:off x="762004" y="2152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A237E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762000" y="2540000"/>
            <a:ext cx="3429000" cy="3048000"/>
          </a:xfrm>
          <a:prstGeom prst="roundRect">
            <a:avLst>
              <a:gd name="adj" fmla="val 0"/>
            </a:avLst>
          </a:prstGeom>
          <a:solidFill>
            <a:srgbClr val="E8F5E9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79400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524000" y="2768600"/>
            <a:ext cx="2413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A237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痛点一：3亿+ 失眠障碍人群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14946">
            <a:off x="1016014" y="3422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A237E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1016000" y="3619500"/>
            <a:ext cx="2921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3C465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中国睡眠研究会2025数据显示，成年人失眠发生率高达</a:t>
            </a:r>
            <a:r>
              <a:rPr lang="en-US" sz="1300" b="1" i="0" u="none" strike="noStrike">
                <a:solidFill>
                  <a:srgbClr val="1A237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38.2%</a:t>
            </a:r>
            <a:r>
              <a:rPr lang="en-US" sz="1300" b="0" i="0" u="none" strike="noStrike">
                <a:solidFill>
                  <a:srgbClr val="3C465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，超3亿人正被睡眠问题困扰。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016000" y="4699000"/>
            <a:ext cx="292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5A64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现有方案多为“千人一面”的通用助眠音乐，无法根据个体生理节律动态调整，陷入“听了也睡不着”的无效循环。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381500" y="2540000"/>
            <a:ext cx="3429000" cy="3048000"/>
          </a:xfrm>
          <a:prstGeom prst="roundRect">
            <a:avLst>
              <a:gd name="adj" fmla="val 0"/>
            </a:avLst>
          </a:prstGeom>
          <a:solidFill>
            <a:srgbClr val="E3F2FD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35500" y="2794000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5143500" y="2768600"/>
            <a:ext cx="2413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A237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痛点二：焦虑检出率 25.8%</a:t>
            </a:r>
            <a:endParaRPr lang="en-US" sz="1100"/>
          </a:p>
        </p:txBody>
      </p:sp>
      <p:cxnSp>
        <p:nvCxnSpPr>
          <p:cNvPr id="15" name="Connector 15"/>
          <p:cNvCxnSpPr/>
          <p:nvPr/>
        </p:nvCxnSpPr>
        <p:spPr>
          <a:xfrm rot="-14946">
            <a:off x="4635514" y="3422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A237E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/>
        </p:nvSpPr>
        <p:spPr>
          <a:xfrm>
            <a:off x="4635500" y="3619500"/>
            <a:ext cx="2921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3C465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《2025国民心理健康白皮书》指出，成年人抑郁风险检出率达16.8%，焦虑情绪呈普遍化、年轻化趋势。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4635500" y="4699000"/>
            <a:ext cx="292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5A64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传统心理咨询动辄数百元/次，且大众普遍存在“病耻感”，线下预约难、门槛高，阻碍了早期干预与疏导。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001000" y="2540000"/>
            <a:ext cx="3429000" cy="3048000"/>
          </a:xfrm>
          <a:prstGeom prst="roundRect">
            <a:avLst>
              <a:gd name="adj" fmla="val 0"/>
            </a:avLst>
          </a:prstGeom>
          <a:solidFill>
            <a:srgbClr val="FFF8E1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55000" y="2794000"/>
            <a:ext cx="406400" cy="4064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8763000" y="2768600"/>
            <a:ext cx="2413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A237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痛点三：碎片化时代的专注危机</a:t>
            </a:r>
            <a:endParaRPr lang="en-US" sz="1100"/>
          </a:p>
        </p:txBody>
      </p:sp>
      <p:cxnSp>
        <p:nvCxnSpPr>
          <p:cNvPr id="21" name="Connector 21"/>
          <p:cNvCxnSpPr/>
          <p:nvPr/>
        </p:nvCxnSpPr>
        <p:spPr>
          <a:xfrm rot="-14946">
            <a:off x="8255014" y="3422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A237E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2" name="AutoShape 22"/>
          <p:cNvSpPr/>
          <p:nvPr/>
        </p:nvSpPr>
        <p:spPr>
          <a:xfrm>
            <a:off x="8255000" y="3619500"/>
            <a:ext cx="2921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3C465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信息过载导致现代人注意力持续时间大幅缩短，保持专注成为一种稀缺的“精神资源”。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8255000" y="4699000"/>
            <a:ext cx="292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5A64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传统冥想练习门槛高、难以坚持，且效果缺乏量化反馈，无法适配快节奏、碎片化的现代生活场景。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762000" y="5905500"/>
            <a:ext cx="10668000" cy="635000"/>
          </a:xfrm>
          <a:prstGeom prst="roundRect">
            <a:avLst>
              <a:gd name="adj" fmla="val 0"/>
            </a:avLst>
          </a:prstGeom>
          <a:solidFill>
            <a:srgbClr val="1A237E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952500" y="6007100"/>
            <a:ext cx="10287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A237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核心洞察：</a:t>
            </a:r>
            <a:r>
              <a:rPr lang="en-US" sz="1300" b="0" i="0" u="none" strike="noStrike">
                <a:solidFill>
                  <a:srgbClr val="323C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从睡眠、情绪到注意力，用户需要的是更个性化、低门槛、可量化的心理健康服务，这正是市场的核心空白。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1A237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“数据采集→评估→定制→迭代”闭环疗愈体系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打破传统静态歌单模式，构建“千人千面、时时适配”的动态进化式心理疗愈新范式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092">
            <a:off x="762004" y="2025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A237E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762000" y="3556000"/>
            <a:ext cx="482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20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以数据为核心驱动，将智能设备采集、AI多模态评估与专业治疗师干预深度融合，形成可视化、可追踪、可优化的完整疗愈闭环，让心理健康服务更科学、更精准。</a:t>
            </a:r>
            <a:endParaRPr lang="en-US" sz="20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7" name="Connector 7"/>
          <p:cNvCxnSpPr/>
          <p:nvPr/>
        </p:nvCxnSpPr>
        <p:spPr>
          <a:xfrm rot="5388145">
            <a:off x="4254500" y="4375161"/>
            <a:ext cx="3683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A237E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6350000" y="2540000"/>
            <a:ext cx="2603500" cy="1714500"/>
          </a:xfrm>
          <a:prstGeom prst="roundRect">
            <a:avLst>
              <a:gd name="adj" fmla="val 0"/>
            </a:avLst>
          </a:prstGeom>
          <a:solidFill>
            <a:srgbClr val="E8F5E9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02400" y="26924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6921500" y="2667000"/>
            <a:ext cx="1905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B5E2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01. 生理数据无感采集</a:t>
            </a:r>
            <a:endParaRPr lang="en-US" sz="1100"/>
          </a:p>
        </p:txBody>
      </p:sp>
      <p:cxnSp>
        <p:nvCxnSpPr>
          <p:cNvPr id="11" name="Connector 11"/>
          <p:cNvCxnSpPr/>
          <p:nvPr/>
        </p:nvCxnSpPr>
        <p:spPr>
          <a:xfrm rot="-18785">
            <a:off x="6502417" y="3168650"/>
            <a:ext cx="23241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88E3C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AutoShape 12"/>
          <p:cNvSpPr/>
          <p:nvPr/>
        </p:nvSpPr>
        <p:spPr>
          <a:xfrm>
            <a:off x="6502400" y="3302000"/>
            <a:ext cx="2349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2424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通过智能手环、手表等设备，全天候无感采集HRV、睡眠质量、压力指数等生理信号，为心理评估提供客观依据。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9080500" y="2540000"/>
            <a:ext cx="2603500" cy="1714500"/>
          </a:xfrm>
          <a:prstGeom prst="roundRect">
            <a:avLst>
              <a:gd name="adj" fmla="val 0"/>
            </a:avLst>
          </a:prstGeom>
          <a:solidFill>
            <a:srgbClr val="E3F2FD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232900" y="2692400"/>
            <a:ext cx="304800" cy="304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9652000" y="2667000"/>
            <a:ext cx="1905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0D47A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02. 多维融合AI评估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-18785">
            <a:off x="9232917" y="3168650"/>
            <a:ext cx="23241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565C0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9232900" y="3302000"/>
            <a:ext cx="2349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2424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融合生理指标与标准化心理量表数据，利用AI算法构建用户心理模型，精准识别焦虑、抑郁等情绪状态与程度。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350000" y="4445000"/>
            <a:ext cx="2603500" cy="1714500"/>
          </a:xfrm>
          <a:prstGeom prst="roundRect">
            <a:avLst>
              <a:gd name="adj" fmla="val 0"/>
            </a:avLst>
          </a:prstGeom>
          <a:solidFill>
            <a:srgbClr val="FFF8E1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02400" y="4597400"/>
            <a:ext cx="304800" cy="3048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6921500" y="4572000"/>
            <a:ext cx="1905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E651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03. 专家定制音乐处方</a:t>
            </a:r>
            <a:endParaRPr lang="en-US" sz="1100"/>
          </a:p>
        </p:txBody>
      </p:sp>
      <p:cxnSp>
        <p:nvCxnSpPr>
          <p:cNvPr id="21" name="Connector 21"/>
          <p:cNvCxnSpPr/>
          <p:nvPr/>
        </p:nvCxnSpPr>
        <p:spPr>
          <a:xfrm rot="-18785">
            <a:off x="6502417" y="5073650"/>
            <a:ext cx="23241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57F17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" name="AutoShape 22"/>
          <p:cNvSpPr/>
          <p:nvPr/>
        </p:nvSpPr>
        <p:spPr>
          <a:xfrm>
            <a:off x="6502400" y="5207000"/>
            <a:ext cx="2349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2424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由持证心理治疗师结合AI评估结果，1对1定制专属疗愈音乐方案，兼顾科学依据与用户的听觉偏好。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9080500" y="4445000"/>
            <a:ext cx="2603500" cy="1714500"/>
          </a:xfrm>
          <a:prstGeom prst="roundRect">
            <a:avLst>
              <a:gd name="adj" fmla="val 0"/>
            </a:avLst>
          </a:prstGeom>
          <a:solidFill>
            <a:srgbClr val="F3E5F5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232900" y="4597400"/>
            <a:ext cx="304800" cy="3048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9652000" y="4572000"/>
            <a:ext cx="1905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6A1B9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04-05 迭代与可视化复盘</a:t>
            </a:r>
            <a:endParaRPr lang="en-US" sz="1100"/>
          </a:p>
        </p:txBody>
      </p:sp>
      <p:cxnSp>
        <p:nvCxnSpPr>
          <p:cNvPr id="26" name="Connector 26"/>
          <p:cNvCxnSpPr/>
          <p:nvPr/>
        </p:nvCxnSpPr>
        <p:spPr>
          <a:xfrm rot="-18785">
            <a:off x="9232917" y="5073650"/>
            <a:ext cx="23241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7B1FA2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" name="AutoShape 27"/>
          <p:cNvSpPr/>
          <p:nvPr/>
        </p:nvSpPr>
        <p:spPr>
          <a:xfrm>
            <a:off x="9232900" y="5207000"/>
            <a:ext cx="2349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2424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按周/月持续调优音乐处方，生成可视化数据报告，让用户直观感知情绪改善与疗愈进程，形成正向反馈。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1A237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三级订阅产品体系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2540000" cy="3556000"/>
          </a:xfrm>
          <a:prstGeom prst="roundRect">
            <a:avLst>
              <a:gd name="adj" fmla="val 0"/>
            </a:avLst>
          </a:prstGeom>
          <a:solidFill>
            <a:srgbClr val="E8F5E9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22225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460500" y="2222500"/>
            <a:ext cx="17145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A237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尊享版·年度订阅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20221">
            <a:off x="952519" y="2851150"/>
            <a:ext cx="215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A237E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952500" y="3111500"/>
            <a:ext cx="2159000" cy="215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为核心高净值用户提供1对1专属治疗师服务，基于用户状态实时调优方案，覆盖生活、职场、家庭等全场景的深度心理定制支持。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3492500" y="2032000"/>
            <a:ext cx="2540000" cy="3556000"/>
          </a:xfrm>
          <a:prstGeom prst="roundRect">
            <a:avLst>
              <a:gd name="adj" fmla="val 0"/>
            </a:avLst>
          </a:prstGeom>
          <a:solidFill>
            <a:srgbClr val="E3F2FD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83000" y="22225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4191000" y="2222500"/>
            <a:ext cx="17145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A237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进阶版·季度/半年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-20221">
            <a:off x="3683019" y="2851150"/>
            <a:ext cx="215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A237E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3683000" y="3111500"/>
            <a:ext cx="2159000" cy="215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面向有持续成长需求的用户，提供轻度个性化定制，包含月度心理状态复盘与干预方案迭代，逐步引导建立健康心理模式。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223000" y="2032000"/>
            <a:ext cx="2540000" cy="3556000"/>
          </a:xfrm>
          <a:prstGeom prst="roundRect">
            <a:avLst>
              <a:gd name="adj" fmla="val 0"/>
            </a:avLst>
          </a:prstGeom>
          <a:solidFill>
            <a:srgbClr val="FFF8E1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13500" y="2222500"/>
            <a:ext cx="406400" cy="4064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6921500" y="2222500"/>
            <a:ext cx="17145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A237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基础版·月度订阅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-20221">
            <a:off x="6413519" y="2851150"/>
            <a:ext cx="215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A237E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6413500" y="3111500"/>
            <a:ext cx="2159000" cy="215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针对入门级用户，提供标准化的通用场景心理处方，搭配基础数据监测功能，帮助用户初步识别情绪问题，建立基础心理防护。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9017000" y="2032000"/>
            <a:ext cx="2413000" cy="3556000"/>
          </a:xfrm>
          <a:prstGeom prst="roundRect">
            <a:avLst>
              <a:gd name="adj" fmla="val 0"/>
            </a:avLst>
          </a:prstGeom>
          <a:solidFill>
            <a:srgbClr val="F0F4F8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207500" y="2222500"/>
            <a:ext cx="406400" cy="4064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9715500" y="2222500"/>
            <a:ext cx="15875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A237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B端定制服务</a:t>
            </a:r>
            <a:endParaRPr lang="en-US" sz="1100"/>
          </a:p>
        </p:txBody>
      </p:sp>
      <p:cxnSp>
        <p:nvCxnSpPr>
          <p:cNvPr id="22" name="Connector 22"/>
          <p:cNvCxnSpPr/>
          <p:nvPr/>
        </p:nvCxnSpPr>
        <p:spPr>
          <a:xfrm rot="-21485">
            <a:off x="9207520" y="2851150"/>
            <a:ext cx="203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A237E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" name="AutoShape 23"/>
          <p:cNvSpPr/>
          <p:nvPr/>
        </p:nvSpPr>
        <p:spPr>
          <a:xfrm>
            <a:off x="9207500" y="3111500"/>
            <a:ext cx="2032000" cy="215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拓展企业EAP、校园心理健康教育及康养机构配套服务，将专业心理服务能力规模化输出，实现C端与B端业务的协同发展。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762000" y="5842000"/>
            <a:ext cx="10668000" cy="762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952500" y="5969000"/>
            <a:ext cx="1028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1A237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从普惠性基础服务到高端个性化支持，再到B端规模化赋能，构建全维度、多层次的心理健康服务生态，让专业关怀触手可及。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1A237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三重壁垒构建竞争护城河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715000" cy="508000"/>
          </a:xfrm>
          <a:prstGeom prst="roundRect">
            <a:avLst>
              <a:gd name="adj" fmla="val 0"/>
            </a:avLst>
          </a:prstGeom>
          <a:solidFill>
            <a:srgbClr val="1A237E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889000" y="1841500"/>
            <a:ext cx="101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A237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核心维度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2032000" y="1841500"/>
            <a:ext cx="139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E7D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声愈 Resonance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3556000" y="1841500"/>
            <a:ext cx="1333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546E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通用平台/机构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953000" y="1841500"/>
            <a:ext cx="139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546E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普通心理平台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62000" y="2540000"/>
            <a:ext cx="5715000" cy="698500"/>
          </a:xfrm>
          <a:prstGeom prst="roundRect">
            <a:avLst>
              <a:gd name="adj" fmla="val 0"/>
            </a:avLst>
          </a:prstGeom>
          <a:solidFill>
            <a:srgbClr val="E8F5E9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889000" y="2641600"/>
            <a:ext cx="101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A237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数据支撑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2032000" y="2603500"/>
            <a:ext cx="1397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2E7D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✓ HRV实时监测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546E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生理数据闭环反馈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3556000" y="2730500"/>
            <a:ext cx="1333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9E9E9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✗ 无量化指标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953000" y="2730500"/>
            <a:ext cx="139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9E9E9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✗ 仅主观评估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62000" y="3429000"/>
            <a:ext cx="5715000" cy="698500"/>
          </a:xfrm>
          <a:prstGeom prst="roundRect">
            <a:avLst>
              <a:gd name="adj" fmla="val 0"/>
            </a:avLst>
          </a:prstGeom>
          <a:solidFill>
            <a:srgbClr val="E3F2FD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889000" y="3530600"/>
            <a:ext cx="101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A237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动态迭代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2032000" y="3492500"/>
            <a:ext cx="1397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565C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✓ 每周策略调优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546E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算法驱动内容更新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3556000" y="3619500"/>
            <a:ext cx="1333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9E9E9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✗ 内容固定僵化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4953000" y="3619500"/>
            <a:ext cx="139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9E9E9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✗ 方案长期不变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62000" y="4318000"/>
            <a:ext cx="5715000" cy="698500"/>
          </a:xfrm>
          <a:prstGeom prst="roundRect">
            <a:avLst>
              <a:gd name="adj" fmla="val 0"/>
            </a:avLst>
          </a:prstGeom>
          <a:solidFill>
            <a:srgbClr val="FFF8E1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889000" y="4419600"/>
            <a:ext cx="101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A237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专业背书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2032000" y="4381500"/>
            <a:ext cx="1397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F57F1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✓ 持证治疗师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546E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严格筛选专家团队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3556000" y="4508500"/>
            <a:ext cx="1333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△ 部分兼职人员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4953000" y="4508500"/>
            <a:ext cx="139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✓ 有资质但无定制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762000" y="5207000"/>
            <a:ext cx="5715000" cy="1079500"/>
          </a:xfrm>
          <a:prstGeom prst="roundRect">
            <a:avLst>
              <a:gd name="adj" fmla="val 0"/>
            </a:avLst>
          </a:prstGeom>
          <a:solidFill>
            <a:srgbClr val="1A237E">
              <a:alpha val="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889000" y="5334000"/>
            <a:ext cx="101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A237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综合体验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2032000" y="5308600"/>
            <a:ext cx="4191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1A237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订阅制高性价比 + 7×24h 随时在线服务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546E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打破线下机构单次数百元的高价壁垒，解决传统平台交互弱、响应慢的痛点，为用户提供触手可及、持续稳定的疗愈支持体系。</a:t>
            </a:r>
            <a:endParaRPr lang="en-US" sz="1100"/>
          </a:p>
        </p:txBody>
      </p:sp>
      <p:cxnSp>
        <p:nvCxnSpPr>
          <p:cNvPr id="27" name="Connector 27"/>
          <p:cNvCxnSpPr/>
          <p:nvPr/>
        </p:nvCxnSpPr>
        <p:spPr>
          <a:xfrm rot="5390450">
            <a:off x="4508500" y="4057659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A237E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8" name="AutoShape 28"/>
          <p:cNvSpPr/>
          <p:nvPr/>
        </p:nvSpPr>
        <p:spPr>
          <a:xfrm>
            <a:off x="6985000" y="1778000"/>
            <a:ext cx="4445000" cy="1143000"/>
          </a:xfrm>
          <a:prstGeom prst="roundRect">
            <a:avLst>
              <a:gd name="adj" fmla="val 0"/>
            </a:avLst>
          </a:prstGeom>
          <a:solidFill>
            <a:srgbClr val="E8F5E9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9" name="Picture 2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12000" y="1930400"/>
            <a:ext cx="457200" cy="457200"/>
          </a:xfrm>
          <a:prstGeom prst="rect">
            <a:avLst/>
          </a:prstGeom>
        </p:spPr>
      </p:pic>
      <p:sp>
        <p:nvSpPr>
          <p:cNvPr id="30" name="AutoShape 30"/>
          <p:cNvSpPr/>
          <p:nvPr/>
        </p:nvSpPr>
        <p:spPr>
          <a:xfrm>
            <a:off x="7747000" y="1879600"/>
            <a:ext cx="3556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A237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数据差异化：从“感觉”进阶“科学”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42424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基于HRV生理数据的实时反馈与干预，彻底告别传统疗愈的主观臆断，让每一次情绪调节都有科学数据支撑。</a:t>
            </a:r>
            <a:endParaRPr lang="en-US" sz="1200" b="0" i="0" u="none" strike="noStrike">
              <a:solidFill>
                <a:srgbClr val="42424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1" name="AutoShape 31"/>
          <p:cNvSpPr/>
          <p:nvPr/>
        </p:nvSpPr>
        <p:spPr>
          <a:xfrm>
            <a:off x="6985000" y="3175000"/>
            <a:ext cx="2133600" cy="1651000"/>
          </a:xfrm>
          <a:prstGeom prst="roundRect">
            <a:avLst>
              <a:gd name="adj" fmla="val 0"/>
            </a:avLst>
          </a:prstGeom>
          <a:solidFill>
            <a:srgbClr val="E3F2FD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2" name="Picture 3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12000" y="3302000"/>
            <a:ext cx="355600" cy="355600"/>
          </a:xfrm>
          <a:prstGeom prst="rect">
            <a:avLst/>
          </a:prstGeom>
        </p:spPr>
      </p:pic>
      <p:sp>
        <p:nvSpPr>
          <p:cNvPr id="33" name="AutoShape 33"/>
          <p:cNvSpPr/>
          <p:nvPr/>
        </p:nvSpPr>
        <p:spPr>
          <a:xfrm>
            <a:off x="7112000" y="3810000"/>
            <a:ext cx="18796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A237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服务动态化迭代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42424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算法驱动策略每周更新，根据用户状态自动适配疗愈方案，拒绝一成不变的静态内容。</a:t>
            </a:r>
            <a:endParaRPr lang="en-US" sz="1100" b="0" i="0" u="none" strike="noStrike">
              <a:solidFill>
                <a:srgbClr val="42424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4" name="AutoShape 34"/>
          <p:cNvSpPr/>
          <p:nvPr/>
        </p:nvSpPr>
        <p:spPr>
          <a:xfrm>
            <a:off x="9296400" y="3175000"/>
            <a:ext cx="2133600" cy="1651000"/>
          </a:xfrm>
          <a:prstGeom prst="roundRect">
            <a:avLst>
              <a:gd name="adj" fmla="val 0"/>
            </a:avLst>
          </a:prstGeom>
          <a:solidFill>
            <a:srgbClr val="FFF8E1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5" name="Picture 3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423400" y="3302000"/>
            <a:ext cx="355600" cy="355600"/>
          </a:xfrm>
          <a:prstGeom prst="rect">
            <a:avLst/>
          </a:prstGeom>
        </p:spPr>
      </p:pic>
      <p:sp>
        <p:nvSpPr>
          <p:cNvPr id="36" name="AutoShape 36"/>
          <p:cNvSpPr/>
          <p:nvPr/>
        </p:nvSpPr>
        <p:spPr>
          <a:xfrm>
            <a:off x="9423400" y="3810000"/>
            <a:ext cx="18796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A237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专业团队强背书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42424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汇聚持证音乐治疗师与心理专家团队，内容设计严格遵循临床心理学与音乐治疗学双重标准。</a:t>
            </a:r>
            <a:endParaRPr lang="en-US" sz="1100" b="0" i="0" u="none" strike="noStrike">
              <a:solidFill>
                <a:srgbClr val="42424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7" name="AutoShape 37"/>
          <p:cNvSpPr/>
          <p:nvPr/>
        </p:nvSpPr>
        <p:spPr>
          <a:xfrm>
            <a:off x="6985000" y="5080000"/>
            <a:ext cx="2133600" cy="1270000"/>
          </a:xfrm>
          <a:prstGeom prst="roundRect">
            <a:avLst>
              <a:gd name="adj" fmla="val 0"/>
            </a:avLst>
          </a:prstGeom>
          <a:solidFill>
            <a:srgbClr val="E8F5E9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8" name="Picture 38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112000" y="5207000"/>
            <a:ext cx="330200" cy="330200"/>
          </a:xfrm>
          <a:prstGeom prst="rect">
            <a:avLst/>
          </a:prstGeom>
        </p:spPr>
      </p:pic>
      <p:sp>
        <p:nvSpPr>
          <p:cNvPr id="39" name="AutoShape 39"/>
          <p:cNvSpPr/>
          <p:nvPr/>
        </p:nvSpPr>
        <p:spPr>
          <a:xfrm>
            <a:off x="7112000" y="5651500"/>
            <a:ext cx="18796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A237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普惠级高性价比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42424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订阅制模式大幅降低门槛，让专业疗愈服务触手可及。</a:t>
            </a:r>
            <a:endParaRPr lang="en-US" sz="1100" b="0" i="0" u="none" strike="noStrike">
              <a:solidFill>
                <a:srgbClr val="42424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0" name="AutoShape 40"/>
          <p:cNvSpPr/>
          <p:nvPr/>
        </p:nvSpPr>
        <p:spPr>
          <a:xfrm>
            <a:off x="9296400" y="5080000"/>
            <a:ext cx="2133600" cy="1270000"/>
          </a:xfrm>
          <a:prstGeom prst="roundRect">
            <a:avLst>
              <a:gd name="adj" fmla="val 0"/>
            </a:avLst>
          </a:prstGeom>
          <a:solidFill>
            <a:srgbClr val="E3F2FD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1" name="Picture 41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423400" y="5207000"/>
            <a:ext cx="330200" cy="330200"/>
          </a:xfrm>
          <a:prstGeom prst="rect">
            <a:avLst/>
          </a:prstGeom>
        </p:spPr>
      </p:pic>
      <p:sp>
        <p:nvSpPr>
          <p:cNvPr id="42" name="AutoShape 42"/>
          <p:cNvSpPr/>
          <p:nvPr/>
        </p:nvSpPr>
        <p:spPr>
          <a:xfrm>
            <a:off x="9423400" y="5651500"/>
            <a:ext cx="18796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A237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全链路服务闭环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42424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评估-干预-反馈-优化，形成可持续的用户疗愈成长路径。</a:t>
            </a:r>
            <a:endParaRPr lang="en-US" sz="1100" b="0" i="0" u="none" strike="noStrike">
              <a:solidFill>
                <a:srgbClr val="42424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1A237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千亿级数字心理健康市场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3429000" cy="1651000"/>
          </a:xfrm>
          <a:prstGeom prst="roundRect">
            <a:avLst>
              <a:gd name="adj" fmla="val 0"/>
            </a:avLst>
          </a:prstGeom>
          <a:solidFill>
            <a:srgbClr val="E8F5E9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952500" y="1905000"/>
            <a:ext cx="304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E7D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01. 市场规模爆发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14323">
            <a:off x="952513" y="23050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E7D32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952500" y="2413000"/>
            <a:ext cx="304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1A237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1728亿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42424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2026年中国数字心理健康市场预计规模，赛道潜力巨大。</a:t>
            </a:r>
            <a:endParaRPr lang="en-US" sz="1300" b="0" i="0" u="none" strike="noStrike">
              <a:solidFill>
                <a:srgbClr val="42424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4381500" y="1778000"/>
            <a:ext cx="3429000" cy="1651000"/>
          </a:xfrm>
          <a:prstGeom prst="roundRect">
            <a:avLst>
              <a:gd name="adj" fmla="val 0"/>
            </a:avLst>
          </a:prstGeom>
          <a:solidFill>
            <a:srgbClr val="E3F2FD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4572000" y="1905000"/>
            <a:ext cx="304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565C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02. 高速复合增长</a:t>
            </a:r>
            <a:endParaRPr lang="en-US" sz="1100"/>
          </a:p>
        </p:txBody>
      </p:sp>
      <p:cxnSp>
        <p:nvCxnSpPr>
          <p:cNvPr id="10" name="Connector 10"/>
          <p:cNvCxnSpPr/>
          <p:nvPr/>
        </p:nvCxnSpPr>
        <p:spPr>
          <a:xfrm rot="-14323">
            <a:off x="4572013" y="23050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565C0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AutoShape 11"/>
          <p:cNvSpPr/>
          <p:nvPr/>
        </p:nvSpPr>
        <p:spPr>
          <a:xfrm>
            <a:off x="4572000" y="2413000"/>
            <a:ext cx="304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1A237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27.9%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42424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行业年复合增长率(CAGR)，增速远超传统医疗健康领域。</a:t>
            </a:r>
            <a:endParaRPr lang="en-US" sz="1300" b="0" i="0" u="none" strike="noStrike">
              <a:solidFill>
                <a:srgbClr val="42424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8001000" y="1778000"/>
            <a:ext cx="3429000" cy="1651000"/>
          </a:xfrm>
          <a:prstGeom prst="roundRect">
            <a:avLst>
              <a:gd name="adj" fmla="val 0"/>
            </a:avLst>
          </a:prstGeom>
          <a:solidFill>
            <a:srgbClr val="FFF8E1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8191500" y="1905000"/>
            <a:ext cx="304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57F1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03. 多维渗透目标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14323">
            <a:off x="8191513" y="23050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57F17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8191500" y="2413000"/>
            <a:ext cx="304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1A237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10万+ / 100+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42424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3年内实现C端用户突破10万，B端合作专业机构超100家。</a:t>
            </a:r>
            <a:endParaRPr lang="en-US" sz="1300" b="0" i="0" u="none" strike="noStrike">
              <a:solidFill>
                <a:srgbClr val="42424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6" name="Connector 16"/>
          <p:cNvCxnSpPr/>
          <p:nvPr/>
        </p:nvCxnSpPr>
        <p:spPr>
          <a:xfrm rot="-4092">
            <a:off x="762004" y="3803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A237E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17" name="Picture 17"/>
          <p:cNvPicPr>
            <a:picLocks noChangeAspect="1"/>
          </p:cNvPicPr>
          <p:nvPr/>
        </p:nvPicPr>
        <p:blipFill>
          <a:blip r:embed="rId2"/>
          <a:srcRect b="5602"/>
          <a:stretch>
            <a:fillRect/>
          </a:stretch>
        </p:blipFill>
        <p:spPr>
          <a:xfrm>
            <a:off x="762000" y="3937000"/>
            <a:ext cx="3429000" cy="2159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8" name="AutoShape 18"/>
          <p:cNvSpPr/>
          <p:nvPr/>
        </p:nvSpPr>
        <p:spPr>
          <a:xfrm>
            <a:off x="4572000" y="3937000"/>
            <a:ext cx="3492500" cy="2159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4699000" y="4064000"/>
            <a:ext cx="3238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A237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核心用户画像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-13481">
            <a:off x="4699012" y="4438650"/>
            <a:ext cx="3238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A237E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4699000" y="4572000"/>
            <a:ext cx="32385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1" i="0" u="none" strike="noStrike">
                <a:solidFill>
                  <a:srgbClr val="2E7D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职场中坚(25-45岁)：</a:t>
            </a:r>
            <a:r>
              <a:rPr lang="en-US" sz="13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长期高压致睡眠浅、情绪内耗，付费意愿强，追求高效解决方案。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1" i="0" u="none" strike="noStrike">
                <a:solidFill>
                  <a:srgbClr val="1565C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学生与亚健康：</a:t>
            </a:r>
            <a:r>
              <a:rPr lang="en-US" sz="13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涵盖考前焦虑学生及抗拒药物、偏好自然疗愈的轻度心理困扰人群。</a:t>
            </a:r>
            <a:endParaRPr lang="en-US" sz="1300" b="0" i="0" u="none" strike="noStrike">
              <a:solidFill>
                <a:srgbClr val="50505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8318500" y="3937000"/>
            <a:ext cx="3365500" cy="2159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8445500" y="4064000"/>
            <a:ext cx="3111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A237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B端全场景拓展路径</a:t>
            </a:r>
            <a:endParaRPr lang="en-US" sz="1100"/>
          </a:p>
        </p:txBody>
      </p:sp>
      <p:cxnSp>
        <p:nvCxnSpPr>
          <p:cNvPr id="24" name="Connector 24"/>
          <p:cNvCxnSpPr/>
          <p:nvPr/>
        </p:nvCxnSpPr>
        <p:spPr>
          <a:xfrm rot="-14031">
            <a:off x="8445513" y="4438650"/>
            <a:ext cx="3111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A237E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" name="AutoShape 25"/>
          <p:cNvSpPr/>
          <p:nvPr/>
        </p:nvSpPr>
        <p:spPr>
          <a:xfrm>
            <a:off x="8445500" y="4699000"/>
            <a:ext cx="990600" cy="825500"/>
          </a:xfrm>
          <a:prstGeom prst="roundRect">
            <a:avLst>
              <a:gd name="adj" fmla="val 0"/>
            </a:avLst>
          </a:prstGeom>
          <a:solidFill>
            <a:srgbClr val="E3F2FD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8483600" y="4762500"/>
            <a:ext cx="9144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565C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企业EAP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员工关怀服务切入，建立信任基础</a:t>
            </a:r>
            <a:endParaRPr lang="en-US" sz="1100" b="0" i="0" u="none" strike="noStrike">
              <a:solidFill>
                <a:srgbClr val="50505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7" name="AutoShape 27"/>
          <p:cNvSpPr/>
          <p:nvPr/>
        </p:nvSpPr>
        <p:spPr>
          <a:xfrm>
            <a:off x="9537700" y="4699000"/>
            <a:ext cx="990600" cy="825500"/>
          </a:xfrm>
          <a:prstGeom prst="roundRect">
            <a:avLst>
              <a:gd name="adj" fmla="val 0"/>
            </a:avLst>
          </a:prstGeom>
          <a:solidFill>
            <a:srgbClr val="E8F5E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8" name="AutoShape 28"/>
          <p:cNvSpPr/>
          <p:nvPr/>
        </p:nvSpPr>
        <p:spPr>
          <a:xfrm>
            <a:off x="9575800" y="4762500"/>
            <a:ext cx="9144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2E7D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校园心理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覆盖中学至高校，提供筛查与干预</a:t>
            </a:r>
            <a:endParaRPr lang="en-US" sz="1100" b="0" i="0" u="none" strike="noStrike">
              <a:solidFill>
                <a:srgbClr val="50505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9" name="AutoShape 29"/>
          <p:cNvSpPr/>
          <p:nvPr/>
        </p:nvSpPr>
        <p:spPr>
          <a:xfrm>
            <a:off x="10604500" y="4699000"/>
            <a:ext cx="990600" cy="825500"/>
          </a:xfrm>
          <a:prstGeom prst="roundRect">
            <a:avLst>
              <a:gd name="adj" fmla="val 0"/>
            </a:avLst>
          </a:prstGeom>
          <a:solidFill>
            <a:srgbClr val="FFF8E1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0" name="AutoShape 30"/>
          <p:cNvSpPr/>
          <p:nvPr/>
        </p:nvSpPr>
        <p:spPr>
          <a:xfrm>
            <a:off x="10642600" y="4762500"/>
            <a:ext cx="9144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57F1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康养配套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赋能机构，完善全生命周期服务</a:t>
            </a:r>
            <a:endParaRPr lang="en-US" sz="1100" b="0" i="0" u="none" strike="noStrike">
              <a:solidFill>
                <a:srgbClr val="50505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1A237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轻量化订阅制，边际成本递减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10668000" cy="762000"/>
          </a:xfrm>
          <a:prstGeom prst="roundRect">
            <a:avLst>
              <a:gd name="adj" fmla="val 0"/>
            </a:avLst>
          </a:prstGeom>
          <a:solidFill>
            <a:srgbClr val="E8F5E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76200" cy="762000"/>
          </a:xfrm>
          <a:prstGeom prst="roundRect">
            <a:avLst>
              <a:gd name="adj" fmla="val 0"/>
            </a:avLst>
          </a:prstGeom>
          <a:solidFill>
            <a:srgbClr val="1A237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1651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A237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双轮驱动：C端订阅筑牢基本盘，B端定制拓展增长极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2921000"/>
            <a:ext cx="5270500" cy="2540000"/>
          </a:xfrm>
          <a:prstGeom prst="roundRect">
            <a:avLst>
              <a:gd name="adj" fmla="val 0"/>
            </a:avLst>
          </a:prstGeom>
          <a:solidFill>
            <a:srgbClr val="FFF8E1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3048000"/>
            <a:ext cx="2032000" cy="228600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9" name="AutoShape 9"/>
          <p:cNvSpPr/>
          <p:nvPr/>
        </p:nvSpPr>
        <p:spPr>
          <a:xfrm>
            <a:off x="3175000" y="3111500"/>
            <a:ext cx="2667000" cy="215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A237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多元化收入结构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以C端订阅费为核心（70%），构建稳定现金流；B端定制服务（20%）与增值服务（10%）协同发力，拓宽盈利边界，形成可持续的收入生态。</a:t>
            </a:r>
            <a:endParaRPr lang="en-US" sz="13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6286500" y="2921000"/>
            <a:ext cx="5270500" cy="2540000"/>
          </a:xfrm>
          <a:prstGeom prst="roundRect">
            <a:avLst>
              <a:gd name="adj" fmla="val 0"/>
            </a:avLst>
          </a:prstGeom>
          <a:solidFill>
            <a:srgbClr val="E3F2FD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0" y="3048000"/>
            <a:ext cx="2032000" cy="228600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12" name="AutoShape 12"/>
          <p:cNvSpPr/>
          <p:nvPr/>
        </p:nvSpPr>
        <p:spPr>
          <a:xfrm>
            <a:off x="8699500" y="3111500"/>
            <a:ext cx="2667000" cy="215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A237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极致可控的成本模型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固定成本低且稳定，可变成本随业务动态调节；随着用户规模指数级增长，边际成本趋近于零，充分释放订阅制模式的规模化盈利潜力。</a:t>
            </a:r>
            <a:endParaRPr lang="en-US" sz="13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762000" y="5715000"/>
            <a:ext cx="10668000" cy="762000"/>
          </a:xfrm>
          <a:prstGeom prst="roundRect">
            <a:avLst>
              <a:gd name="adj" fmla="val 0"/>
            </a:avLst>
          </a:prstGeom>
          <a:solidFill>
            <a:srgbClr val="1A237E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5880100"/>
            <a:ext cx="431800" cy="431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778000" y="5715000"/>
            <a:ext cx="939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A237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关键结论：用户规模与盈利空间呈正相关，边际成本递减效应显著。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1A237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三年规模化增长路径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3378200" cy="3429000"/>
          </a:xfrm>
          <a:prstGeom prst="roundRect">
            <a:avLst>
              <a:gd name="adj" fmla="val 0"/>
            </a:avLst>
          </a:prstGeom>
          <a:solidFill>
            <a:srgbClr val="FFF8E1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2032000"/>
            <a:ext cx="3378200" cy="50800"/>
          </a:xfrm>
          <a:prstGeom prst="roundRect">
            <a:avLst>
              <a:gd name="adj" fmla="val 0"/>
            </a:avLst>
          </a:prstGeom>
          <a:solidFill>
            <a:srgbClr val="FBC02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3495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24000" y="2311400"/>
            <a:ext cx="241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E272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第1年 · 种子期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15211">
            <a:off x="1016014" y="30416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E2723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1016000" y="3302000"/>
            <a:ext cx="28702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1A237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核心目标：</a:t>
            </a:r>
            <a:r>
              <a:rPr lang="en-US" sz="1400" b="0" i="0" u="none" strike="noStrike">
                <a:solidFill>
                  <a:srgbClr val="42424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积累核心用户5000-8000人，完成初始用户画像沉淀与产品核心功能闭环。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16000" y="4572000"/>
            <a:ext cx="28702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E651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关键任务：</a:t>
            </a:r>
            <a:r>
              <a:rPr lang="en-US" sz="1400" b="0" i="0" u="none" strike="noStrike">
                <a:solidFill>
                  <a:srgbClr val="42424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打磨声愈内容质量，实现项目收支平衡，搭建早期用户口碑与社群基础。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406900" y="2032000"/>
            <a:ext cx="3378200" cy="3429000"/>
          </a:xfrm>
          <a:prstGeom prst="roundRect">
            <a:avLst>
              <a:gd name="adj" fmla="val 0"/>
            </a:avLst>
          </a:prstGeom>
          <a:solidFill>
            <a:srgbClr val="E3F2FD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4406900" y="2032000"/>
            <a:ext cx="3378200" cy="50800"/>
          </a:xfrm>
          <a:prstGeom prst="roundRect">
            <a:avLst>
              <a:gd name="adj" fmla="val 0"/>
            </a:avLst>
          </a:prstGeom>
          <a:solidFill>
            <a:srgbClr val="2196F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60900" y="2349500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5168900" y="2311400"/>
            <a:ext cx="241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D47A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第2年 · 成长期</a:t>
            </a:r>
            <a:endParaRPr lang="en-US" sz="1100"/>
          </a:p>
        </p:txBody>
      </p:sp>
      <p:cxnSp>
        <p:nvCxnSpPr>
          <p:cNvPr id="15" name="Connector 15"/>
          <p:cNvCxnSpPr/>
          <p:nvPr/>
        </p:nvCxnSpPr>
        <p:spPr>
          <a:xfrm rot="-15211">
            <a:off x="4660914" y="30416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D47A1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/>
        </p:nvSpPr>
        <p:spPr>
          <a:xfrm>
            <a:off x="4660900" y="3302000"/>
            <a:ext cx="28702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1A237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核心目标：</a:t>
            </a:r>
            <a:r>
              <a:rPr lang="en-US" sz="1400" b="0" i="0" u="none" strike="noStrike">
                <a:solidFill>
                  <a:srgbClr val="42424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用户突破3万+，签约B端合作机构20-30家，完成商业模式的初步验证。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4660900" y="4572000"/>
            <a:ext cx="28702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1976D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关键任务：</a:t>
            </a:r>
            <a:r>
              <a:rPr lang="en-US" sz="1400" b="0" i="0" u="none" strike="noStrike">
                <a:solidFill>
                  <a:srgbClr val="42424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提升年度订阅用户占比至30%，拓展企业EAP服务，实现项目稳定盈利状态。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051800" y="2032000"/>
            <a:ext cx="3378200" cy="3429000"/>
          </a:xfrm>
          <a:prstGeom prst="roundRect">
            <a:avLst>
              <a:gd name="adj" fmla="val 0"/>
            </a:avLst>
          </a:prstGeom>
          <a:solidFill>
            <a:srgbClr val="E8F5E9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8051800" y="2032000"/>
            <a:ext cx="3378200" cy="50800"/>
          </a:xfrm>
          <a:prstGeom prst="roundRect">
            <a:avLst>
              <a:gd name="adj" fmla="val 0"/>
            </a:avLst>
          </a:prstGeom>
          <a:solidFill>
            <a:srgbClr val="4CAF5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05800" y="2349500"/>
            <a:ext cx="406400" cy="4064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8813800" y="2311400"/>
            <a:ext cx="241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B5E2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第3年 · 规模化</a:t>
            </a:r>
            <a:endParaRPr lang="en-US" sz="1100"/>
          </a:p>
        </p:txBody>
      </p:sp>
      <p:cxnSp>
        <p:nvCxnSpPr>
          <p:cNvPr id="22" name="Connector 22"/>
          <p:cNvCxnSpPr/>
          <p:nvPr/>
        </p:nvCxnSpPr>
        <p:spPr>
          <a:xfrm rot="-15211">
            <a:off x="8305814" y="30416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B5E20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" name="AutoShape 23"/>
          <p:cNvSpPr/>
          <p:nvPr/>
        </p:nvSpPr>
        <p:spPr>
          <a:xfrm>
            <a:off x="8305800" y="3302000"/>
            <a:ext cx="28702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1A237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核心目标：</a:t>
            </a:r>
            <a:r>
              <a:rPr lang="en-US" sz="1400" b="0" i="0" u="none" strike="noStrike">
                <a:solidFill>
                  <a:srgbClr val="42424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用户总量突破10万+，覆盖B端合作机构100+家，构建行业影响力与品牌壁垒。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8305800" y="4572000"/>
            <a:ext cx="28702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388E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关键任务：</a:t>
            </a:r>
            <a:r>
              <a:rPr lang="en-US" sz="1400" b="0" i="0" u="none" strike="noStrike">
                <a:solidFill>
                  <a:srgbClr val="42424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C端+B端双营收体系成熟，沉淀行业标准，成为数字心理健康领域的头部平台。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762000" y="5842000"/>
            <a:ext cx="10668000" cy="635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1016000" y="5943600"/>
            <a:ext cx="10160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7474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以用户价值为核心，通过“种子深耕-成长拓展-规模领跑”的稳健节奏，构建可持续发展的商业闭环。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1A237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“技术+专业+运营”复合型团队</a:t>
            </a:r>
            <a:endParaRPr lang="en-US" sz="1100"/>
          </a:p>
        </p:txBody>
      </p:sp>
      <p:sp>
        <p:nvSpPr>
          <p:cNvPr id="4" name="AutoShape 4"/>
          <p:cNvSpPr/>
          <p:nvPr>
            <p:custDataLst>
              <p:tags r:id="rId2"/>
            </p:custDataLst>
          </p:nvPr>
        </p:nvSpPr>
        <p:spPr>
          <a:xfrm>
            <a:off x="762000" y="2032000"/>
            <a:ext cx="5270500" cy="1905000"/>
          </a:xfrm>
          <a:prstGeom prst="roundRect">
            <a:avLst>
              <a:gd name="adj" fmla="val 0"/>
            </a:avLst>
          </a:prstGeom>
          <a:solidFill>
            <a:srgbClr val="FFF8E1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2222500"/>
            <a:ext cx="457200" cy="457200"/>
          </a:xfrm>
          <a:prstGeom prst="rect">
            <a:avLst/>
          </a:prstGeom>
        </p:spPr>
      </p:pic>
      <p:sp>
        <p:nvSpPr>
          <p:cNvPr id="6" name="AutoShape 6"/>
          <p:cNvSpPr/>
          <p:nvPr>
            <p:custDataLst>
              <p:tags r:id="rId6"/>
            </p:custDataLst>
          </p:nvPr>
        </p:nvSpPr>
        <p:spPr>
          <a:xfrm>
            <a:off x="1651000" y="22225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A237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音乐治疗总监</a:t>
            </a:r>
            <a:endParaRPr lang="en-US" sz="1100"/>
          </a:p>
        </p:txBody>
      </p:sp>
      <p:cxnSp>
        <p:nvCxnSpPr>
          <p:cNvPr id="7" name="Connector 7"/>
          <p:cNvCxnSpPr/>
          <p:nvPr>
            <p:custDataLst>
              <p:tags r:id="rId7"/>
            </p:custDataLst>
          </p:nvPr>
        </p:nvCxnSpPr>
        <p:spPr>
          <a:xfrm rot="-9167">
            <a:off x="1016008" y="27876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A237E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>
            <p:custDataLst>
              <p:tags r:id="rId8"/>
            </p:custDataLst>
          </p:nvPr>
        </p:nvSpPr>
        <p:spPr>
          <a:xfrm>
            <a:off x="1016000" y="2921000"/>
            <a:ext cx="4762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专注于探索音乐在情绪调节与心理疗愈中的科学应用，为产品内容提供专业的学术与实践支撑。</a:t>
            </a:r>
            <a:endParaRPr lang="en-US" sz="1100"/>
          </a:p>
        </p:txBody>
      </p:sp>
      <p:sp>
        <p:nvSpPr>
          <p:cNvPr id="9" name="AutoShape 9"/>
          <p:cNvSpPr/>
          <p:nvPr>
            <p:custDataLst>
              <p:tags r:id="rId9"/>
            </p:custDataLst>
          </p:nvPr>
        </p:nvSpPr>
        <p:spPr>
          <a:xfrm>
            <a:off x="6286500" y="2032000"/>
            <a:ext cx="5270500" cy="1905000"/>
          </a:xfrm>
          <a:prstGeom prst="roundRect">
            <a:avLst>
              <a:gd name="adj" fmla="val 0"/>
            </a:avLst>
          </a:prstGeom>
          <a:solidFill>
            <a:srgbClr val="E3F2FD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540500" y="2222500"/>
            <a:ext cx="457200" cy="457200"/>
          </a:xfrm>
          <a:prstGeom prst="rect">
            <a:avLst/>
          </a:prstGeom>
        </p:spPr>
      </p:pic>
      <p:sp>
        <p:nvSpPr>
          <p:cNvPr id="11" name="AutoShape 11"/>
          <p:cNvSpPr/>
          <p:nvPr>
            <p:custDataLst>
              <p:tags r:id="rId13"/>
            </p:custDataLst>
          </p:nvPr>
        </p:nvSpPr>
        <p:spPr>
          <a:xfrm>
            <a:off x="7175500" y="22225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A237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AI算法负责人</a:t>
            </a:r>
            <a:endParaRPr lang="en-US" sz="1100"/>
          </a:p>
        </p:txBody>
      </p:sp>
      <p:cxnSp>
        <p:nvCxnSpPr>
          <p:cNvPr id="12" name="Connector 12"/>
          <p:cNvCxnSpPr/>
          <p:nvPr>
            <p:custDataLst>
              <p:tags r:id="rId14"/>
            </p:custDataLst>
          </p:nvPr>
        </p:nvCxnSpPr>
        <p:spPr>
          <a:xfrm rot="-9167">
            <a:off x="6540508" y="27876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A237E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>
            <p:custDataLst>
              <p:tags r:id="rId15"/>
            </p:custDataLst>
          </p:nvPr>
        </p:nvSpPr>
        <p:spPr>
          <a:xfrm>
            <a:off x="6540500" y="2921000"/>
            <a:ext cx="4762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主导开发多模态情绪识别引擎与个性化音乐生成算法，为产品赋予核心的技术驱动力。</a:t>
            </a:r>
            <a:endParaRPr lang="en-US" sz="1100"/>
          </a:p>
        </p:txBody>
      </p:sp>
      <p:sp>
        <p:nvSpPr>
          <p:cNvPr id="14" name="AutoShape 14"/>
          <p:cNvSpPr/>
          <p:nvPr>
            <p:custDataLst>
              <p:tags r:id="rId16"/>
            </p:custDataLst>
          </p:nvPr>
        </p:nvSpPr>
        <p:spPr>
          <a:xfrm>
            <a:off x="762000" y="4318000"/>
            <a:ext cx="5270500" cy="1905000"/>
          </a:xfrm>
          <a:prstGeom prst="roundRect">
            <a:avLst>
              <a:gd name="adj" fmla="val 0"/>
            </a:avLst>
          </a:prstGeom>
          <a:solidFill>
            <a:srgbClr val="E3F2FD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016000" y="4508500"/>
            <a:ext cx="457200" cy="457200"/>
          </a:xfrm>
          <a:prstGeom prst="rect">
            <a:avLst/>
          </a:prstGeom>
        </p:spPr>
      </p:pic>
      <p:sp>
        <p:nvSpPr>
          <p:cNvPr id="16" name="AutoShape 16"/>
          <p:cNvSpPr/>
          <p:nvPr>
            <p:custDataLst>
              <p:tags r:id="rId20"/>
            </p:custDataLst>
          </p:nvPr>
        </p:nvSpPr>
        <p:spPr>
          <a:xfrm>
            <a:off x="1651000" y="45085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A237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产品运营负责人</a:t>
            </a:r>
            <a:endParaRPr lang="en-US" sz="1100"/>
          </a:p>
        </p:txBody>
      </p:sp>
      <p:cxnSp>
        <p:nvCxnSpPr>
          <p:cNvPr id="17" name="Connector 17"/>
          <p:cNvCxnSpPr/>
          <p:nvPr>
            <p:custDataLst>
              <p:tags r:id="rId21"/>
            </p:custDataLst>
          </p:nvPr>
        </p:nvCxnSpPr>
        <p:spPr>
          <a:xfrm rot="-9167">
            <a:off x="1016008" y="50736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A237E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>
            <p:custDataLst>
              <p:tags r:id="rId22"/>
            </p:custDataLst>
          </p:nvPr>
        </p:nvSpPr>
        <p:spPr>
          <a:xfrm>
            <a:off x="1016000" y="5207000"/>
            <a:ext cx="4762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统筹产品全链路设计，制定高效的用户获取策略，搭建活跃的用户社区，确保产品价值的有效传递。</a:t>
            </a:r>
            <a:endParaRPr lang="en-US" sz="1100"/>
          </a:p>
        </p:txBody>
      </p:sp>
      <p:sp>
        <p:nvSpPr>
          <p:cNvPr id="19" name="AutoShape 19"/>
          <p:cNvSpPr/>
          <p:nvPr>
            <p:custDataLst>
              <p:tags r:id="rId23"/>
            </p:custDataLst>
          </p:nvPr>
        </p:nvSpPr>
        <p:spPr>
          <a:xfrm>
            <a:off x="6286500" y="4318000"/>
            <a:ext cx="5270500" cy="1905000"/>
          </a:xfrm>
          <a:prstGeom prst="roundRect">
            <a:avLst>
              <a:gd name="adj" fmla="val 0"/>
            </a:avLst>
          </a:prstGeom>
          <a:solidFill>
            <a:srgbClr val="FFF8E1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>
            <p:custDataLst>
              <p:tags r:id="rId24"/>
            </p:custDataLst>
          </p:nvPr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6540500" y="4508500"/>
            <a:ext cx="457200" cy="457200"/>
          </a:xfrm>
          <a:prstGeom prst="rect">
            <a:avLst/>
          </a:prstGeom>
        </p:spPr>
      </p:pic>
      <p:sp>
        <p:nvSpPr>
          <p:cNvPr id="21" name="AutoShape 21"/>
          <p:cNvSpPr/>
          <p:nvPr>
            <p:custDataLst>
              <p:tags r:id="rId27"/>
            </p:custDataLst>
          </p:nvPr>
        </p:nvSpPr>
        <p:spPr>
          <a:xfrm>
            <a:off x="7175500" y="45085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A237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心理健康顾问</a:t>
            </a:r>
            <a:endParaRPr lang="en-US" sz="1100"/>
          </a:p>
        </p:txBody>
      </p:sp>
      <p:cxnSp>
        <p:nvCxnSpPr>
          <p:cNvPr id="22" name="Connector 22"/>
          <p:cNvCxnSpPr/>
          <p:nvPr>
            <p:custDataLst>
              <p:tags r:id="rId28"/>
            </p:custDataLst>
          </p:nvPr>
        </p:nvCxnSpPr>
        <p:spPr>
          <a:xfrm rot="-9167">
            <a:off x="6540508" y="50736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A237E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" name="AutoShape 23"/>
          <p:cNvSpPr/>
          <p:nvPr>
            <p:custDataLst>
              <p:tags r:id="rId29"/>
            </p:custDataLst>
          </p:nvPr>
        </p:nvSpPr>
        <p:spPr>
          <a:xfrm>
            <a:off x="6540500" y="5207000"/>
            <a:ext cx="4762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为产品提供权威的心理学专业指导，链接优质的行业资源，保障服务的专业性与规范性。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1A237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轻量化投入，规模化盈利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092">
            <a:off x="762004" y="1517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A237E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762000" y="2032000"/>
            <a:ext cx="5207000" cy="1397000"/>
          </a:xfrm>
          <a:prstGeom prst="roundRect">
            <a:avLst>
              <a:gd name="adj" fmla="val 0"/>
            </a:avLst>
          </a:prstGeom>
          <a:solidFill>
            <a:srgbClr val="E3F2FD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62000" y="2032000"/>
            <a:ext cx="76200" cy="1397000"/>
          </a:xfrm>
          <a:prstGeom prst="roundRect">
            <a:avLst>
              <a:gd name="adj" fmla="val 0"/>
            </a:avLst>
          </a:prstGeom>
          <a:solidFill>
            <a:srgbClr val="1A237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1016000" y="2159000"/>
            <a:ext cx="4826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1A237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 1 年 · 投入期：口碑筑基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用户数 8,000 | 营收 200万 | 净利润 -50万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聚焦产品打磨与核心用户积累，完成早期口碑搭建，为后续增长奠定基础。</a:t>
            </a:r>
            <a:endParaRPr lang="en-US" sz="1200" b="0" i="0" u="none" strike="noStrike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762000" y="3683000"/>
            <a:ext cx="5207000" cy="1397000"/>
          </a:xfrm>
          <a:prstGeom prst="roundRect">
            <a:avLst>
              <a:gd name="adj" fmla="val 0"/>
            </a:avLst>
          </a:prstGeom>
          <a:solidFill>
            <a:srgbClr val="FFF8E1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762000" y="3683000"/>
            <a:ext cx="76200" cy="1397000"/>
          </a:xfrm>
          <a:prstGeom prst="roundRect">
            <a:avLst>
              <a:gd name="adj" fmla="val 0"/>
            </a:avLst>
          </a:prstGeom>
          <a:solidFill>
            <a:srgbClr val="F59E0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1016000" y="3810000"/>
            <a:ext cx="4826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B4530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 2 年 · 拐点期：扭亏为盈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用户数 30,000 | 营收 1,200万 | 净利润 200万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业务模型跑通，启动B端商业化合作，实现收支平衡并成功盈利，验证商业模式可行性。</a:t>
            </a:r>
            <a:endParaRPr lang="en-US" sz="1200" b="0" i="0" u="none" strike="noStrike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762000" y="5334000"/>
            <a:ext cx="5207000" cy="889000"/>
          </a:xfrm>
          <a:prstGeom prst="roundRect">
            <a:avLst>
              <a:gd name="adj" fmla="val 0"/>
            </a:avLst>
          </a:prstGeom>
          <a:solidFill>
            <a:srgbClr val="E8F5E9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889000" y="5461000"/>
            <a:ext cx="4953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核心逻辑：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坚持“轻资产、高复用”运营策略，严控边际成本，确保用户增长与利润增长呈正相关，实现可持续发展。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5389582">
            <a:off x="4254500" y="4121160"/>
            <a:ext cx="419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A237E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14" name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4000" y="2032000"/>
            <a:ext cx="4953000" cy="355600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15" name="AutoShape 15"/>
          <p:cNvSpPr/>
          <p:nvPr/>
        </p:nvSpPr>
        <p:spPr>
          <a:xfrm>
            <a:off x="6604000" y="5778500"/>
            <a:ext cx="4953000" cy="762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6731000" y="5880100"/>
            <a:ext cx="4699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第2年为关键盈亏平衡点，随着用户基数突破3万，规模效应显现，第3年营收与利润迎来爆发式增长，成功跻身行业头部。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508000" y="635000"/>
            <a:ext cx="1117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1A237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让专业音乐疗愈，普惠每一个疲惫的灵魂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508000" y="1778000"/>
            <a:ext cx="1117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200" b="0" i="0" u="none" strike="noStrike">
                <a:solidFill>
                  <a:srgbClr val="37474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 科技向善 · 疗愈普惠 ”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3906">
            <a:off x="508004" y="2660650"/>
            <a:ext cx="1117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A237E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 t="10714" b="10714"/>
          <a:stretch>
            <a:fillRect/>
          </a:stretch>
        </p:blipFill>
        <p:spPr>
          <a:xfrm>
            <a:off x="635000" y="3175000"/>
            <a:ext cx="3556000" cy="2794000"/>
          </a:xfrm>
          <a:prstGeom prst="rect">
            <a:avLst/>
          </a:prstGeom>
          <a:noFill/>
          <a:ln w="38100" cap="flat" cmpd="sng">
            <a:solidFill>
              <a:srgbClr val="FFFFFF">
                <a:alpha val="80000"/>
              </a:srgbClr>
            </a:solidFill>
            <a:prstDash val="solid"/>
            <a:round/>
          </a:ln>
        </p:spPr>
      </p:pic>
      <p:sp>
        <p:nvSpPr>
          <p:cNvPr id="7" name="AutoShape 7"/>
          <p:cNvSpPr/>
          <p:nvPr/>
        </p:nvSpPr>
        <p:spPr>
          <a:xfrm>
            <a:off x="4826000" y="3175000"/>
            <a:ext cx="3238500" cy="1333500"/>
          </a:xfrm>
          <a:prstGeom prst="roundRect">
            <a:avLst>
              <a:gd name="adj" fmla="val 0"/>
            </a:avLst>
          </a:prstGeom>
          <a:solidFill>
            <a:srgbClr val="E8F5E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16500" y="336550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5588000" y="3302000"/>
            <a:ext cx="2349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A237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健康价值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3E3E3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通过非药物的音乐干预手段，有效缓解焦虑与失眠症状，显著降低心理亚健康人群对化学药物的依赖。</a:t>
            </a:r>
            <a:endParaRPr lang="en-US" sz="1300" b="0" i="0" u="none" strike="noStrike">
              <a:solidFill>
                <a:srgbClr val="3E3E3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8318500" y="3175000"/>
            <a:ext cx="3238500" cy="1333500"/>
          </a:xfrm>
          <a:prstGeom prst="roundRect">
            <a:avLst>
              <a:gd name="adj" fmla="val 0"/>
            </a:avLst>
          </a:prstGeom>
          <a:solidFill>
            <a:srgbClr val="E3F2FD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509000" y="3365500"/>
            <a:ext cx="406400" cy="4064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9080500" y="3302000"/>
            <a:ext cx="2349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A237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社会价值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3E3E3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构建低成本、高覆盖的心理健康服务网络，有效缓解职场与校园的心理压力，减轻社会公共卫生成本。</a:t>
            </a:r>
            <a:endParaRPr lang="en-US" sz="1300" b="0" i="0" u="none" strike="noStrike">
              <a:solidFill>
                <a:srgbClr val="3E3E3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4826000" y="4826000"/>
            <a:ext cx="3238500" cy="1333500"/>
          </a:xfrm>
          <a:prstGeom prst="roundRect">
            <a:avLst>
              <a:gd name="adj" fmla="val 0"/>
            </a:avLst>
          </a:prstGeom>
          <a:solidFill>
            <a:srgbClr val="FFF8E1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016500" y="5016500"/>
            <a:ext cx="406400" cy="4064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5588000" y="4953000"/>
            <a:ext cx="2349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A237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产业价值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3E3E3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推动音乐治疗学科的数字化转型，建立标准化的疗愈内容库与服务流程，助力心理健康产业生态的完善。</a:t>
            </a:r>
            <a:endParaRPr lang="en-US" sz="1300" b="0" i="0" u="none" strike="noStrike">
              <a:solidFill>
                <a:srgbClr val="3E3E3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8318500" y="4826000"/>
            <a:ext cx="3238500" cy="1333500"/>
          </a:xfrm>
          <a:prstGeom prst="roundRect">
            <a:avLst>
              <a:gd name="adj" fmla="val 0"/>
            </a:avLst>
          </a:prstGeom>
          <a:solidFill>
            <a:srgbClr val="F3E5F5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509000" y="5016500"/>
            <a:ext cx="406400" cy="4064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9080500" y="4953000"/>
            <a:ext cx="2349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A237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人文价值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3E3E3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以声波为媒介传递深层关怀，在喧嚣的现代生活中，帮助人们找回内心宁静，重建身心和谐的平衡状态。</a:t>
            </a:r>
            <a:endParaRPr lang="en-US" sz="1300" b="0" i="0" u="none" strike="noStrike">
              <a:solidFill>
                <a:srgbClr val="3E3E3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2032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2E405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声愈 Resonance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3175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000" b="0" i="0" u="none" strike="noStrike">
                <a:solidFill>
                  <a:srgbClr val="546E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以数据赋能疗愈，以声波治愈身心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0" y="4318000"/>
            <a:ext cx="1219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1B5E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 期待与您共创数字心理健康新未来 ”</a:t>
            </a:r>
            <a:endParaRPr lang="en-US" sz="110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30,&quot;left&quot;:60,&quot;top&quot;:160,&quot;width&quot;:850}"/>
</p:tagLst>
</file>

<file path=ppt/tags/tag2.xml><?xml version="1.0" encoding="utf-8"?>
<p:tagLst xmlns:p="http://schemas.openxmlformats.org/presentationml/2006/main">
  <p:tag name="KSO_WM_DIAGRAM_VIRTUALLY_FRAME" val="{&quot;height&quot;:330,&quot;left&quot;:60,&quot;top&quot;:160,&quot;width&quot;:850}"/>
</p:tagLst>
</file>

<file path=ppt/tags/tag3.xml><?xml version="1.0" encoding="utf-8"?>
<p:tagLst xmlns:p="http://schemas.openxmlformats.org/presentationml/2006/main">
  <p:tag name="KSO_WM_DIAGRAM_VIRTUALLY_FRAME" val="{&quot;height&quot;:330,&quot;left&quot;:60,&quot;top&quot;:160,&quot;width&quot;:850}"/>
</p:tagLst>
</file>

<file path=ppt/tags/tag4.xml><?xml version="1.0" encoding="utf-8"?>
<p:tagLst xmlns:p="http://schemas.openxmlformats.org/presentationml/2006/main">
  <p:tag name="KSO_WM_DIAGRAM_VIRTUALLY_FRAME" val="{&quot;height&quot;:330,&quot;left&quot;:60,&quot;top&quot;:160,&quot;width&quot;:850}"/>
</p:tagLst>
</file>

<file path=ppt/tags/tag5.xml><?xml version="1.0" encoding="utf-8"?>
<p:tagLst xmlns:p="http://schemas.openxmlformats.org/presentationml/2006/main">
  <p:tag name="KSO_WM_DIAGRAM_VIRTUALLY_FRAME" val="{&quot;height&quot;:330,&quot;left&quot;:60,&quot;top&quot;:160,&quot;width&quot;:850}"/>
</p:tagLst>
</file>

<file path=ppt/tags/tag6.xml><?xml version="1.0" encoding="utf-8"?>
<p:tagLst xmlns:p="http://schemas.openxmlformats.org/presentationml/2006/main">
  <p:tag name="KSO_WM_DIAGRAM_VIRTUALLY_FRAME" val="{&quot;height&quot;:330,&quot;left&quot;:60,&quot;top&quot;:160,&quot;width&quot;:850}"/>
</p:tagLst>
</file>

<file path=ppt/tags/tag7.xml><?xml version="1.0" encoding="utf-8"?>
<p:tagLst xmlns:p="http://schemas.openxmlformats.org/presentationml/2006/main">
  <p:tag name="KSO_WM_DIAGRAM_VIRTUALLY_FRAME" val="{&quot;height&quot;:330,&quot;left&quot;:60,&quot;top&quot;:160,&quot;width&quot;:850}"/>
</p:tagLst>
</file>

<file path=ppt/tags/tag8.xml><?xml version="1.0" encoding="utf-8"?>
<p:tagLst xmlns:p="http://schemas.openxmlformats.org/presentationml/2006/main">
  <p:tag name="KSO_WM_DIAGRAM_VIRTUALLY_FRAME" val="{&quot;height&quot;:330,&quot;left&quot;:60,&quot;top&quot;:160,&quot;width&quot;:850}"/>
</p:tagLst>
</file>

<file path=ppt/tags/tag9.xml><?xml version="1.0" encoding="utf-8"?>
<p:tagLst xmlns:p="http://schemas.openxmlformats.org/presentationml/2006/main">
  <p:tag name="KSO_WM_DIAGRAM_VIRTUALLY_FRAME" val="{&quot;height&quot;:330,&quot;left&quot;:60,&quot;top&quot;:160,&quot;width&quot;:850}"/>
</p:tagLst>
</file>

<file path=ppt/tags/tag10.xml><?xml version="1.0" encoding="utf-8"?>
<p:tagLst xmlns:p="http://schemas.openxmlformats.org/presentationml/2006/main">
  <p:tag name="KSO_WM_DIAGRAM_VIRTUALLY_FRAME" val="{&quot;height&quot;:330,&quot;left&quot;:60,&quot;top&quot;:160,&quot;width&quot;:850}"/>
</p:tagLst>
</file>

<file path=ppt/tags/tag11.xml><?xml version="1.0" encoding="utf-8"?>
<p:tagLst xmlns:p="http://schemas.openxmlformats.org/presentationml/2006/main">
  <p:tag name="KSO_WM_DIAGRAM_VIRTUALLY_FRAME" val="{&quot;height&quot;:330,&quot;left&quot;:60,&quot;top&quot;:160,&quot;width&quot;:850}"/>
</p:tagLst>
</file>

<file path=ppt/tags/tag12.xml><?xml version="1.0" encoding="utf-8"?>
<p:tagLst xmlns:p="http://schemas.openxmlformats.org/presentationml/2006/main">
  <p:tag name="KSO_WM_DIAGRAM_VIRTUALLY_FRAME" val="{&quot;height&quot;:330,&quot;left&quot;:60,&quot;top&quot;:160,&quot;width&quot;:850}"/>
</p:tagLst>
</file>

<file path=ppt/tags/tag13.xml><?xml version="1.0" encoding="utf-8"?>
<p:tagLst xmlns:p="http://schemas.openxmlformats.org/presentationml/2006/main">
  <p:tag name="KSO_WM_DIAGRAM_VIRTUALLY_FRAME" val="{&quot;height&quot;:330,&quot;left&quot;:60,&quot;top&quot;:160,&quot;width&quot;:850}"/>
</p:tagLst>
</file>

<file path=ppt/tags/tag14.xml><?xml version="1.0" encoding="utf-8"?>
<p:tagLst xmlns:p="http://schemas.openxmlformats.org/presentationml/2006/main">
  <p:tag name="KSO_WM_DIAGRAM_VIRTUALLY_FRAME" val="{&quot;height&quot;:330,&quot;left&quot;:60,&quot;top&quot;:160,&quot;width&quot;:850}"/>
</p:tagLst>
</file>

<file path=ppt/tags/tag15.xml><?xml version="1.0" encoding="utf-8"?>
<p:tagLst xmlns:p="http://schemas.openxmlformats.org/presentationml/2006/main">
  <p:tag name="KSO_WM_DIAGRAM_VIRTUALLY_FRAME" val="{&quot;height&quot;:330,&quot;left&quot;:60,&quot;top&quot;:160,&quot;width&quot;:850}"/>
</p:tagLst>
</file>

<file path=ppt/tags/tag16.xml><?xml version="1.0" encoding="utf-8"?>
<p:tagLst xmlns:p="http://schemas.openxmlformats.org/presentationml/2006/main">
  <p:tag name="KSO_WM_DIAGRAM_VIRTUALLY_FRAME" val="{&quot;height&quot;:330,&quot;left&quot;:60,&quot;top&quot;:160,&quot;width&quot;:850}"/>
</p:tagLst>
</file>

<file path=ppt/tags/tag17.xml><?xml version="1.0" encoding="utf-8"?>
<p:tagLst xmlns:p="http://schemas.openxmlformats.org/presentationml/2006/main">
  <p:tag name="KSO_WM_DIAGRAM_VIRTUALLY_FRAME" val="{&quot;height&quot;:330,&quot;left&quot;:60,&quot;top&quot;:160,&quot;width&quot;:850}"/>
</p:tagLst>
</file>

<file path=ppt/tags/tag18.xml><?xml version="1.0" encoding="utf-8"?>
<p:tagLst xmlns:p="http://schemas.openxmlformats.org/presentationml/2006/main">
  <p:tag name="KSO_WM_DIAGRAM_VIRTUALLY_FRAME" val="{&quot;height&quot;:330,&quot;left&quot;:60,&quot;top&quot;:160,&quot;width&quot;:850}"/>
</p:tagLst>
</file>

<file path=ppt/tags/tag19.xml><?xml version="1.0" encoding="utf-8"?>
<p:tagLst xmlns:p="http://schemas.openxmlformats.org/presentationml/2006/main">
  <p:tag name="KSO_WM_DIAGRAM_VIRTUALLY_FRAME" val="{&quot;height&quot;:330,&quot;left&quot;:60,&quot;top&quot;:160,&quot;width&quot;:850}"/>
</p:tagLst>
</file>

<file path=ppt/tags/tag20.xml><?xml version="1.0" encoding="utf-8"?>
<p:tagLst xmlns:p="http://schemas.openxmlformats.org/presentationml/2006/main">
  <p:tag name="KSO_WM_DIAGRAM_VIRTUALLY_FRAME" val="{&quot;height&quot;:330,&quot;left&quot;:60,&quot;top&quot;:160,&quot;width&quot;:850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3378</Words>
  <Application>WPS 演示</Application>
  <PresentationFormat/>
  <Paragraphs>253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12</vt:i4>
      </vt:variant>
    </vt:vector>
  </HeadingPairs>
  <TitlesOfParts>
    <vt:vector size="29" baseType="lpstr">
      <vt:lpstr>Arial</vt:lpstr>
      <vt:lpstr>宋体</vt:lpstr>
      <vt:lpstr>Wingdings</vt:lpstr>
      <vt:lpstr>Arial</vt:lpstr>
      <vt:lpstr>Noto Sans SC</vt:lpstr>
      <vt:lpstr>Thonburi</vt:lpstr>
      <vt:lpstr>宋体</vt:lpstr>
      <vt:lpstr>汉仪书宋二KW</vt:lpstr>
      <vt:lpstr>微软雅黑</vt:lpstr>
      <vt:lpstr>Arial Unicode MS</vt:lpstr>
      <vt:lpstr>Noto Sans SC</vt:lpstr>
      <vt:lpstr>苹方-简</vt:lpstr>
      <vt:lpstr>儷宋 Pro</vt:lpstr>
      <vt:lpstr>黑体</vt:lpstr>
      <vt:lpstr>汉仪中黑KW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快小開</cp:lastModifiedBy>
  <cp:revision>2</cp:revision>
  <dcterms:created xsi:type="dcterms:W3CDTF">2026-06-23T15:11:07Z</dcterms:created>
  <dcterms:modified xsi:type="dcterms:W3CDTF">2026-06-23T15:11:07Z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{"Label":"1","ContentProducer":"001191110102MACQD9K64010000","ProduceID":"7652639530058976231","ReservedCode1":"","ContentPropagator":"","PropagateID":"","ReservedCode2":""}</vt:lpwstr>
  </property>
  <property fmtid="{D5CDD505-2E9C-101B-9397-08002B2CF9AE}" pid="3" name="ICV">
    <vt:lpwstr>A9E73CEF1F6ABF350BA23A6A7D0E7977_43</vt:lpwstr>
  </property>
  <property fmtid="{D5CDD505-2E9C-101B-9397-08002B2CF9AE}" pid="4" name="KSOProductBuildVer">
    <vt:lpwstr>2052-12.1.25205.25205</vt:lpwstr>
  </property>
</Properties>
</file>